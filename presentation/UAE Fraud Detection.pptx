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TT Hoves Bold" charset="1" panose="02000003020000060003"/>
      <p:regular r:id="rId17"/>
    </p:embeddedFont>
    <p:embeddedFont>
      <p:font typeface="TT Hoves" charset="1" panose="02000003020000060003"/>
      <p:regular r:id="rId18"/>
    </p:embeddedFont>
    <p:embeddedFont>
      <p:font typeface="Canva Sans Bold" charset="1" panose="020B0803030501040103"/>
      <p:regular r:id="rId19"/>
    </p:embeddedFont>
    <p:embeddedFont>
      <p:font typeface="Cormorant Garamond" charset="1" panose="00000500000000000000"/>
      <p:regular r:id="rId20"/>
    </p:embeddedFont>
    <p:embeddedFont>
      <p:font typeface="Canva Sans" charset="1" panose="020B0503030501040103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238270" y="-3485302"/>
            <a:ext cx="11221859" cy="11221859"/>
          </a:xfrm>
          <a:custGeom>
            <a:avLst/>
            <a:gdLst/>
            <a:ahLst/>
            <a:cxnLst/>
            <a:rect r="r" b="b" t="t" l="l"/>
            <a:pathLst>
              <a:path h="11221859" w="11221859">
                <a:moveTo>
                  <a:pt x="0" y="0"/>
                </a:moveTo>
                <a:lnTo>
                  <a:pt x="11221859" y="0"/>
                </a:lnTo>
                <a:lnTo>
                  <a:pt x="11221859" y="11221858"/>
                </a:lnTo>
                <a:lnTo>
                  <a:pt x="0" y="112218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96258" y="-450527"/>
            <a:ext cx="19680517" cy="1704491"/>
            <a:chOff x="0" y="0"/>
            <a:chExt cx="5183346" cy="44891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83346" cy="448919"/>
            </a:xfrm>
            <a:custGeom>
              <a:avLst/>
              <a:gdLst/>
              <a:ahLst/>
              <a:cxnLst/>
              <a:rect r="r" b="b" t="t" l="l"/>
              <a:pathLst>
                <a:path h="448919" w="5183346">
                  <a:moveTo>
                    <a:pt x="0" y="0"/>
                  </a:moveTo>
                  <a:lnTo>
                    <a:pt x="5183346" y="0"/>
                  </a:lnTo>
                  <a:lnTo>
                    <a:pt x="5183346" y="448919"/>
                  </a:lnTo>
                  <a:lnTo>
                    <a:pt x="0" y="448919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83346" cy="5060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231583" y="3312735"/>
            <a:ext cx="10910396" cy="1026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20"/>
              </a:lnSpc>
            </a:pPr>
            <a:r>
              <a:rPr lang="en-US" b="true" sz="8000" spc="-392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UAE Fraud Detection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33357" y="4897169"/>
            <a:ext cx="14660275" cy="1130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81"/>
              </a:lnSpc>
            </a:pPr>
            <a:r>
              <a:rPr lang="en-US" sz="4381" spc="-87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Advanced behavioral scoring and risk assessment using tuned Logistic Regression and Ensenble Method </a:t>
            </a:r>
          </a:p>
        </p:txBody>
      </p:sp>
      <p:sp>
        <p:nvSpPr>
          <p:cNvPr name="AutoShape 8" id="8"/>
          <p:cNvSpPr/>
          <p:nvPr/>
        </p:nvSpPr>
        <p:spPr>
          <a:xfrm>
            <a:off x="1028700" y="9572625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340195" y="8083572"/>
            <a:ext cx="2205752" cy="1083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33"/>
              </a:lnSpc>
            </a:pPr>
            <a:r>
              <a:rPr lang="en-US" sz="4166" b="true">
                <a:solidFill>
                  <a:srgbClr val="3434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100,000</a:t>
            </a:r>
          </a:p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3434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TRANSACTIONS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685748" y="8083572"/>
            <a:ext cx="1958340" cy="1083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33"/>
              </a:lnSpc>
            </a:pPr>
            <a:r>
              <a:rPr lang="en-US" sz="4166" b="true">
                <a:solidFill>
                  <a:srgbClr val="3434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~70,9%</a:t>
            </a:r>
          </a:p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3434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FINAL ROC AUC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93440" y="8083572"/>
            <a:ext cx="2783800" cy="1083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33"/>
              </a:lnSpc>
            </a:pPr>
            <a:r>
              <a:rPr lang="en-US" sz="4166" b="true">
                <a:solidFill>
                  <a:srgbClr val="3434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0,63</a:t>
            </a:r>
          </a:p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3434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OPTIMAL THRESHOLD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232499" y="8083572"/>
            <a:ext cx="2095262" cy="1083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33"/>
              </a:lnSpc>
            </a:pPr>
            <a:r>
              <a:rPr lang="en-US" sz="4166" b="true">
                <a:solidFill>
                  <a:srgbClr val="3434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BINARY</a:t>
            </a:r>
          </a:p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3434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CLASSIFICATION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17093" y="853869"/>
            <a:ext cx="16776456" cy="896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93"/>
              </a:lnSpc>
            </a:pPr>
            <a:r>
              <a:rPr lang="en-US" b="true" sz="6900" spc="-324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| THE DATASET: STRATEGIC CONTEXT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17093" y="2900244"/>
            <a:ext cx="7980499" cy="4579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24"/>
              </a:lnSpc>
            </a:pPr>
            <a:r>
              <a:rPr lang="en-US" b="true" sz="3499" spc="209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UAE Market Dynamics </a:t>
            </a:r>
          </a:p>
          <a:p>
            <a:pPr algn="just">
              <a:lnSpc>
                <a:spcPts val="2699"/>
              </a:lnSpc>
            </a:pPr>
          </a:p>
          <a:p>
            <a:pPr algn="just">
              <a:lnSpc>
                <a:spcPts val="3644"/>
              </a:lnSpc>
            </a:pPr>
            <a:r>
              <a:rPr lang="en-US" sz="2699" spc="161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Ingested 100k records of e-commerce transaction logs from the UAE region, focusing on  customer metadata and session ehavior.</a:t>
            </a:r>
          </a:p>
          <a:p>
            <a:pPr algn="just">
              <a:lnSpc>
                <a:spcPts val="3644"/>
              </a:lnSpc>
            </a:pPr>
          </a:p>
          <a:p>
            <a:pPr algn="just">
              <a:lnSpc>
                <a:spcPts val="3644"/>
              </a:lnSpc>
            </a:pPr>
            <a:r>
              <a:rPr lang="en-US" sz="2699" spc="161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Train Size: 80,000 samples</a:t>
            </a:r>
          </a:p>
          <a:p>
            <a:pPr algn="just">
              <a:lnSpc>
                <a:spcPts val="3644"/>
              </a:lnSpc>
            </a:pPr>
            <a:r>
              <a:rPr lang="en-US" sz="2699" spc="161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Test Size: 20,000 samples</a:t>
            </a:r>
          </a:p>
          <a:p>
            <a:pPr algn="just">
              <a:lnSpc>
                <a:spcPts val="3644"/>
              </a:lnSpc>
            </a:pPr>
            <a:r>
              <a:rPr lang="en-US" sz="2699" spc="161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Imbalance: 8.21% Fraud rate </a:t>
            </a:r>
          </a:p>
          <a:p>
            <a:pPr algn="just" marL="0" indent="0" lvl="0">
              <a:lnSpc>
                <a:spcPts val="3644"/>
              </a:lnSpc>
              <a:spcBef>
                <a:spcPct val="0"/>
              </a:spcBef>
            </a:pPr>
            <a:r>
              <a:rPr lang="en-US" sz="2699" spc="161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Target:’is_fraud’ (Binaey)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005321" y="2698341"/>
            <a:ext cx="15177319" cy="15177319"/>
          </a:xfrm>
          <a:custGeom>
            <a:avLst/>
            <a:gdLst/>
            <a:ahLst/>
            <a:cxnLst/>
            <a:rect r="r" b="b" t="t" l="l"/>
            <a:pathLst>
              <a:path h="15177319" w="15177319">
                <a:moveTo>
                  <a:pt x="0" y="0"/>
                </a:moveTo>
                <a:lnTo>
                  <a:pt x="15177319" y="0"/>
                </a:lnTo>
                <a:lnTo>
                  <a:pt x="15177319" y="15177318"/>
                </a:lnTo>
                <a:lnTo>
                  <a:pt x="0" y="151773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9144000" y="2420337"/>
            <a:ext cx="8849800" cy="5525556"/>
            <a:chOff x="0" y="0"/>
            <a:chExt cx="2330811" cy="14552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30811" cy="1455290"/>
            </a:xfrm>
            <a:custGeom>
              <a:avLst/>
              <a:gdLst/>
              <a:ahLst/>
              <a:cxnLst/>
              <a:rect r="r" b="b" t="t" l="l"/>
              <a:pathLst>
                <a:path h="1455290" w="2330811">
                  <a:moveTo>
                    <a:pt x="0" y="0"/>
                  </a:moveTo>
                  <a:lnTo>
                    <a:pt x="2330811" y="0"/>
                  </a:lnTo>
                  <a:lnTo>
                    <a:pt x="2330811" y="1455290"/>
                  </a:lnTo>
                  <a:lnTo>
                    <a:pt x="0" y="1455290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330811" cy="15124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413050" y="2844165"/>
            <a:ext cx="7980499" cy="410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4"/>
              </a:lnSpc>
            </a:pPr>
            <a:r>
              <a:rPr lang="en-US" sz="2699" spc="161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# Data Splitting with Stratification</a:t>
            </a:r>
          </a:p>
          <a:p>
            <a:pPr algn="just">
              <a:lnSpc>
                <a:spcPts val="3644"/>
              </a:lnSpc>
            </a:pPr>
            <a:r>
              <a:rPr lang="en-US" sz="2699" spc="161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X = df.drop(columns=[“is_fraud”]</a:t>
            </a:r>
          </a:p>
          <a:p>
            <a:pPr algn="just">
              <a:lnSpc>
                <a:spcPts val="3644"/>
              </a:lnSpc>
            </a:pPr>
            <a:r>
              <a:rPr lang="en-US" sz="2699" spc="161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y = df[“is_fraud”]</a:t>
            </a:r>
          </a:p>
          <a:p>
            <a:pPr algn="just">
              <a:lnSpc>
                <a:spcPts val="3644"/>
              </a:lnSpc>
            </a:pPr>
          </a:p>
          <a:p>
            <a:pPr algn="just">
              <a:lnSpc>
                <a:spcPts val="3644"/>
              </a:lnSpc>
            </a:pPr>
            <a:r>
              <a:rPr lang="en-US" sz="2699" spc="161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X_train, X_test, y_train, y_test = train_test_split(</a:t>
            </a:r>
          </a:p>
          <a:p>
            <a:pPr algn="just">
              <a:lnSpc>
                <a:spcPts val="3644"/>
              </a:lnSpc>
            </a:pPr>
            <a:r>
              <a:rPr lang="en-US" sz="2699" spc="161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X, y, test_size=0.2, random_state=42, stratify=y</a:t>
            </a:r>
          </a:p>
          <a:p>
            <a:pPr algn="just">
              <a:lnSpc>
                <a:spcPts val="3644"/>
              </a:lnSpc>
            </a:pPr>
            <a:r>
              <a:rPr lang="en-US" sz="2699" spc="161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)</a:t>
            </a:r>
          </a:p>
          <a:p>
            <a:pPr algn="just">
              <a:lnSpc>
                <a:spcPts val="3644"/>
              </a:lnSpc>
            </a:pPr>
          </a:p>
          <a:p>
            <a:pPr algn="just" marL="0" indent="0" lvl="0">
              <a:lnSpc>
                <a:spcPts val="3644"/>
              </a:lnSpc>
              <a:spcBef>
                <a:spcPct val="0"/>
              </a:spcBef>
            </a:pPr>
            <a:r>
              <a:rPr lang="en-US" sz="2699" spc="161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print(f”Fraud rate :{y_train.mean():.4f}”)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17093" y="864854"/>
            <a:ext cx="16776456" cy="874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6"/>
              </a:lnSpc>
            </a:pPr>
            <a:r>
              <a:rPr lang="en-US" b="true" sz="6800" spc="-319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| MODELING PIPELINE:END-TO-END STEPS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158948" y="6281493"/>
            <a:ext cx="5696758" cy="1358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4"/>
              </a:lnSpc>
              <a:spcBef>
                <a:spcPct val="0"/>
              </a:spcBef>
            </a:pPr>
            <a:r>
              <a:rPr lang="en-US" sz="2699" spc="161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*All transformers learns parameters strictly from training data to avoid any data leakage  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670641" y="7103346"/>
            <a:ext cx="15177319" cy="15177319"/>
          </a:xfrm>
          <a:custGeom>
            <a:avLst/>
            <a:gdLst/>
            <a:ahLst/>
            <a:cxnLst/>
            <a:rect r="r" b="b" t="t" l="l"/>
            <a:pathLst>
              <a:path h="15177319" w="15177319">
                <a:moveTo>
                  <a:pt x="0" y="0"/>
                </a:moveTo>
                <a:lnTo>
                  <a:pt x="15177318" y="0"/>
                </a:lnTo>
                <a:lnTo>
                  <a:pt x="15177318" y="15177319"/>
                </a:lnTo>
                <a:lnTo>
                  <a:pt x="0" y="151773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540893" y="2349526"/>
            <a:ext cx="3415147" cy="3360468"/>
            <a:chOff x="0" y="0"/>
            <a:chExt cx="2330811" cy="229349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30811" cy="2293493"/>
            </a:xfrm>
            <a:custGeom>
              <a:avLst/>
              <a:gdLst/>
              <a:ahLst/>
              <a:cxnLst/>
              <a:rect r="r" b="b" t="t" l="l"/>
              <a:pathLst>
                <a:path h="2293493" w="2330811">
                  <a:moveTo>
                    <a:pt x="0" y="0"/>
                  </a:moveTo>
                  <a:lnTo>
                    <a:pt x="2330811" y="0"/>
                  </a:lnTo>
                  <a:lnTo>
                    <a:pt x="2330811" y="2293493"/>
                  </a:lnTo>
                  <a:lnTo>
                    <a:pt x="0" y="2293493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330811" cy="23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617093" y="2489684"/>
            <a:ext cx="3341589" cy="292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b="true" sz="2799" spc="167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STEP 01</a:t>
            </a:r>
          </a:p>
          <a:p>
            <a:pPr algn="ctr">
              <a:lnSpc>
                <a:spcPts val="3239"/>
              </a:lnSpc>
            </a:pPr>
          </a:p>
          <a:p>
            <a:pPr algn="ctr">
              <a:lnSpc>
                <a:spcPts val="3239"/>
              </a:lnSpc>
            </a:pPr>
            <a:r>
              <a:rPr lang="en-US" b="true" sz="2399" spc="143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Data Ingestion</a:t>
            </a:r>
          </a:p>
          <a:p>
            <a:pPr algn="ctr">
              <a:lnSpc>
                <a:spcPts val="3239"/>
              </a:lnSpc>
            </a:pPr>
          </a:p>
          <a:p>
            <a:pPr algn="ctr" marL="0" indent="0" lvl="0">
              <a:lnSpc>
                <a:spcPts val="3239"/>
              </a:lnSpc>
              <a:spcBef>
                <a:spcPct val="0"/>
              </a:spcBef>
            </a:pPr>
            <a:r>
              <a:rPr lang="en-US" sz="2399" spc="143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Loads 100k UAE dataset and performs stratified 80/20 split.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4092032" y="2349526"/>
            <a:ext cx="3415147" cy="3360468"/>
            <a:chOff x="0" y="0"/>
            <a:chExt cx="2330811" cy="229349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30811" cy="2293493"/>
            </a:xfrm>
            <a:custGeom>
              <a:avLst/>
              <a:gdLst/>
              <a:ahLst/>
              <a:cxnLst/>
              <a:rect r="r" b="b" t="t" l="l"/>
              <a:pathLst>
                <a:path h="2293493" w="2330811">
                  <a:moveTo>
                    <a:pt x="0" y="0"/>
                  </a:moveTo>
                  <a:lnTo>
                    <a:pt x="2330811" y="0"/>
                  </a:lnTo>
                  <a:lnTo>
                    <a:pt x="2330811" y="2293493"/>
                  </a:lnTo>
                  <a:lnTo>
                    <a:pt x="0" y="2293493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2330811" cy="23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643361" y="2349526"/>
            <a:ext cx="3415147" cy="3360468"/>
            <a:chOff x="0" y="0"/>
            <a:chExt cx="2330811" cy="229349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30811" cy="2293493"/>
            </a:xfrm>
            <a:custGeom>
              <a:avLst/>
              <a:gdLst/>
              <a:ahLst/>
              <a:cxnLst/>
              <a:rect r="r" b="b" t="t" l="l"/>
              <a:pathLst>
                <a:path h="2293493" w="2330811">
                  <a:moveTo>
                    <a:pt x="0" y="0"/>
                  </a:moveTo>
                  <a:lnTo>
                    <a:pt x="2330811" y="0"/>
                  </a:lnTo>
                  <a:lnTo>
                    <a:pt x="2330811" y="2293493"/>
                  </a:lnTo>
                  <a:lnTo>
                    <a:pt x="0" y="2293493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2330811" cy="23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191858" y="2349526"/>
            <a:ext cx="3415147" cy="3360468"/>
            <a:chOff x="0" y="0"/>
            <a:chExt cx="2330811" cy="229349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330811" cy="2293493"/>
            </a:xfrm>
            <a:custGeom>
              <a:avLst/>
              <a:gdLst/>
              <a:ahLst/>
              <a:cxnLst/>
              <a:rect r="r" b="b" t="t" l="l"/>
              <a:pathLst>
                <a:path h="2293493" w="2330811">
                  <a:moveTo>
                    <a:pt x="0" y="0"/>
                  </a:moveTo>
                  <a:lnTo>
                    <a:pt x="2330811" y="0"/>
                  </a:lnTo>
                  <a:lnTo>
                    <a:pt x="2330811" y="2293493"/>
                  </a:lnTo>
                  <a:lnTo>
                    <a:pt x="0" y="2293493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2330811" cy="23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4743187" y="2349526"/>
            <a:ext cx="3415147" cy="3360468"/>
            <a:chOff x="0" y="0"/>
            <a:chExt cx="2330811" cy="229349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330811" cy="2293493"/>
            </a:xfrm>
            <a:custGeom>
              <a:avLst/>
              <a:gdLst/>
              <a:ahLst/>
              <a:cxnLst/>
              <a:rect r="r" b="b" t="t" l="l"/>
              <a:pathLst>
                <a:path h="2293493" w="2330811">
                  <a:moveTo>
                    <a:pt x="0" y="0"/>
                  </a:moveTo>
                  <a:lnTo>
                    <a:pt x="2330811" y="0"/>
                  </a:lnTo>
                  <a:lnTo>
                    <a:pt x="2330811" y="2293493"/>
                  </a:lnTo>
                  <a:lnTo>
                    <a:pt x="0" y="2293493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2330811" cy="23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540893" y="6089717"/>
            <a:ext cx="9242906" cy="3996704"/>
            <a:chOff x="0" y="0"/>
            <a:chExt cx="6308211" cy="272771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308211" cy="2727720"/>
            </a:xfrm>
            <a:custGeom>
              <a:avLst/>
              <a:gdLst/>
              <a:ahLst/>
              <a:cxnLst/>
              <a:rect r="r" b="b" t="t" l="l"/>
              <a:pathLst>
                <a:path h="2727720" w="6308211">
                  <a:moveTo>
                    <a:pt x="0" y="0"/>
                  </a:moveTo>
                  <a:lnTo>
                    <a:pt x="6308211" y="0"/>
                  </a:lnTo>
                  <a:lnTo>
                    <a:pt x="6308211" y="2727720"/>
                  </a:lnTo>
                  <a:lnTo>
                    <a:pt x="0" y="2727720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6308211" cy="27848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846777" y="6291018"/>
            <a:ext cx="8297223" cy="3658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03"/>
              </a:lnSpc>
            </a:pPr>
            <a:r>
              <a:rPr lang="en-US" sz="1780" spc="106">
                <a:solidFill>
                  <a:srgbClr val="EFEFEF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def build_pipeline(model, is_logistic=False, drop_flags=False):</a:t>
            </a:r>
          </a:p>
          <a:p>
            <a:pPr algn="just">
              <a:lnSpc>
                <a:spcPts val="2403"/>
              </a:lnSpc>
            </a:pPr>
            <a:r>
              <a:rPr lang="en-US" sz="1780" spc="106">
                <a:solidFill>
                  <a:srgbClr val="EFEFEF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steps = [('feature_engineering', FraudFeatureEngineer(drop_flags=drop_flags))]</a:t>
            </a:r>
          </a:p>
          <a:p>
            <a:pPr algn="just">
              <a:lnSpc>
                <a:spcPts val="2403"/>
              </a:lnSpc>
            </a:pPr>
          </a:p>
          <a:p>
            <a:pPr algn="just">
              <a:lnSpc>
                <a:spcPts val="2403"/>
              </a:lnSpc>
            </a:pPr>
            <a:r>
              <a:rPr lang="en-US" sz="1780" spc="106">
                <a:solidFill>
                  <a:srgbClr val="EFEFEF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if is_logistic:</a:t>
            </a:r>
          </a:p>
          <a:p>
            <a:pPr algn="just">
              <a:lnSpc>
                <a:spcPts val="2403"/>
              </a:lnSpc>
            </a:pPr>
            <a:r>
              <a:rPr lang="en-US" sz="1780" spc="106">
                <a:solidFill>
                  <a:srgbClr val="EFEFEF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steps.append(('cap_outliers', OutlierCapper()))</a:t>
            </a:r>
          </a:p>
          <a:p>
            <a:pPr algn="just">
              <a:lnSpc>
                <a:spcPts val="2403"/>
              </a:lnSpc>
            </a:pPr>
            <a:r>
              <a:rPr lang="en-US" sz="1780" spc="106">
                <a:solidFill>
                  <a:srgbClr val="EFEFEF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steps.append(('skew_transform', SkewnessTransformer()))</a:t>
            </a:r>
          </a:p>
          <a:p>
            <a:pPr algn="just">
              <a:lnSpc>
                <a:spcPts val="2403"/>
              </a:lnSpc>
            </a:pPr>
            <a:r>
              <a:rPr lang="en-US" sz="1780" spc="106">
                <a:solidFill>
                  <a:srgbClr val="EFEFEF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steps.append(('scaler', StandardScaler()))</a:t>
            </a:r>
          </a:p>
          <a:p>
            <a:pPr algn="just">
              <a:lnSpc>
                <a:spcPts val="2403"/>
              </a:lnSpc>
            </a:pPr>
          </a:p>
          <a:p>
            <a:pPr algn="just">
              <a:lnSpc>
                <a:spcPts val="2403"/>
              </a:lnSpc>
            </a:pPr>
            <a:r>
              <a:rPr lang="en-US" sz="1780" spc="106">
                <a:solidFill>
                  <a:srgbClr val="EFEFEF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steps.append(('model', model))</a:t>
            </a:r>
          </a:p>
          <a:p>
            <a:pPr algn="just">
              <a:lnSpc>
                <a:spcPts val="2403"/>
              </a:lnSpc>
            </a:pPr>
            <a:r>
              <a:rPr lang="en-US" sz="1780" spc="106">
                <a:solidFill>
                  <a:srgbClr val="EFEFEF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return Pipeline(steps)</a:t>
            </a:r>
          </a:p>
          <a:p>
            <a:pPr algn="just">
              <a:lnSpc>
                <a:spcPts val="2403"/>
              </a:lnSpc>
            </a:pPr>
          </a:p>
          <a:p>
            <a:pPr algn="just" marL="0" indent="0" lvl="0">
              <a:lnSpc>
                <a:spcPts val="2403"/>
              </a:lnSpc>
              <a:spcBef>
                <a:spcPct val="0"/>
              </a:spcBef>
            </a:pPr>
            <a:r>
              <a:rPr lang="en-US" sz="1780" spc="106">
                <a:solidFill>
                  <a:srgbClr val="EFEFEF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print(f”Fraud rate :{y_train.mean():.4f}”)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128811" y="2465987"/>
            <a:ext cx="3341589" cy="2512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b="true" sz="2799" spc="167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STEP 02</a:t>
            </a:r>
          </a:p>
          <a:p>
            <a:pPr algn="ctr">
              <a:lnSpc>
                <a:spcPts val="3239"/>
              </a:lnSpc>
            </a:pPr>
          </a:p>
          <a:p>
            <a:pPr algn="ctr">
              <a:lnSpc>
                <a:spcPts val="3239"/>
              </a:lnSpc>
            </a:pPr>
            <a:r>
              <a:rPr lang="en-US" b="true" sz="2399" spc="143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Custom Transforms</a:t>
            </a:r>
          </a:p>
          <a:p>
            <a:pPr algn="ctr">
              <a:lnSpc>
                <a:spcPts val="3239"/>
              </a:lnSpc>
            </a:pPr>
          </a:p>
          <a:p>
            <a:pPr algn="ctr" marL="0" indent="0" lvl="0">
              <a:lnSpc>
                <a:spcPts val="3239"/>
              </a:lnSpc>
              <a:spcBef>
                <a:spcPct val="0"/>
              </a:spcBef>
            </a:pPr>
            <a:r>
              <a:rPr lang="en-US" sz="2399" spc="143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OutlierCapper and Skewness transforms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680140" y="2489684"/>
            <a:ext cx="3341589" cy="2512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b="true" sz="2799" spc="167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STEP 03</a:t>
            </a:r>
          </a:p>
          <a:p>
            <a:pPr algn="ctr">
              <a:lnSpc>
                <a:spcPts val="3239"/>
              </a:lnSpc>
            </a:pPr>
          </a:p>
          <a:p>
            <a:pPr algn="ctr">
              <a:lnSpc>
                <a:spcPts val="3239"/>
              </a:lnSpc>
            </a:pPr>
            <a:r>
              <a:rPr lang="en-US" b="true" sz="2399" spc="143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Feature Engineering</a:t>
            </a:r>
          </a:p>
          <a:p>
            <a:pPr algn="ctr">
              <a:lnSpc>
                <a:spcPts val="3239"/>
              </a:lnSpc>
            </a:pPr>
          </a:p>
          <a:p>
            <a:pPr algn="ctr" marL="0" indent="0" lvl="0">
              <a:lnSpc>
                <a:spcPts val="3239"/>
              </a:lnSpc>
              <a:spcBef>
                <a:spcPct val="0"/>
              </a:spcBef>
            </a:pPr>
            <a:r>
              <a:rPr lang="en-US" sz="2399" spc="143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Generates 13 new features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249008" y="2465987"/>
            <a:ext cx="3341589" cy="2512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b="true" sz="2799" spc="167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STEP 04</a:t>
            </a:r>
          </a:p>
          <a:p>
            <a:pPr algn="ctr">
              <a:lnSpc>
                <a:spcPts val="3239"/>
              </a:lnSpc>
            </a:pPr>
          </a:p>
          <a:p>
            <a:pPr algn="ctr">
              <a:lnSpc>
                <a:spcPts val="3239"/>
              </a:lnSpc>
            </a:pPr>
            <a:r>
              <a:rPr lang="en-US" b="true" sz="2399" spc="143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Model Training </a:t>
            </a:r>
          </a:p>
          <a:p>
            <a:pPr algn="ctr">
              <a:lnSpc>
                <a:spcPts val="3239"/>
              </a:lnSpc>
            </a:pPr>
          </a:p>
          <a:p>
            <a:pPr algn="ctr" marL="0" indent="0" lvl="0">
              <a:lnSpc>
                <a:spcPts val="3239"/>
              </a:lnSpc>
              <a:spcBef>
                <a:spcPct val="0"/>
              </a:spcBef>
            </a:pPr>
            <a:r>
              <a:rPr lang="en-US" sz="2399" spc="143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Parallel training LR, RF, XGB, and LGBM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807031" y="2465987"/>
            <a:ext cx="3341589" cy="2512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b="true" sz="2799" spc="167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STEP 05</a:t>
            </a:r>
          </a:p>
          <a:p>
            <a:pPr algn="ctr">
              <a:lnSpc>
                <a:spcPts val="3239"/>
              </a:lnSpc>
            </a:pPr>
          </a:p>
          <a:p>
            <a:pPr algn="ctr">
              <a:lnSpc>
                <a:spcPts val="3239"/>
              </a:lnSpc>
            </a:pPr>
            <a:r>
              <a:rPr lang="en-US" b="true" sz="2399" spc="143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Hyper-Tuning</a:t>
            </a:r>
          </a:p>
          <a:p>
            <a:pPr algn="ctr">
              <a:lnSpc>
                <a:spcPts val="3239"/>
              </a:lnSpc>
            </a:pPr>
          </a:p>
          <a:p>
            <a:pPr algn="ctr" marL="0" indent="0" lvl="0">
              <a:lnSpc>
                <a:spcPts val="3239"/>
              </a:lnSpc>
              <a:spcBef>
                <a:spcPct val="0"/>
              </a:spcBef>
            </a:pPr>
            <a:r>
              <a:rPr lang="en-US" sz="2399" spc="143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Grid-SearchCV and Optuna optimization.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17093" y="853869"/>
            <a:ext cx="16776456" cy="896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93"/>
              </a:lnSpc>
            </a:pPr>
            <a:r>
              <a:rPr lang="en-US" b="true" sz="6900" spc="-324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| PREPROCESSING &amp; CLEANING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308587" y="2016867"/>
            <a:ext cx="8380374" cy="6408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24"/>
              </a:lnSpc>
            </a:pPr>
            <a:r>
              <a:rPr lang="en-US" b="true" sz="3499" spc="209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Statistical Normalization</a:t>
            </a:r>
          </a:p>
          <a:p>
            <a:pPr algn="just">
              <a:lnSpc>
                <a:spcPts val="2699"/>
              </a:lnSpc>
            </a:pPr>
          </a:p>
          <a:p>
            <a:pPr algn="just">
              <a:lnSpc>
                <a:spcPts val="3644"/>
              </a:lnSpc>
            </a:pPr>
            <a:r>
              <a:rPr lang="en-US" sz="2699" spc="161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Ensuring model robustness through automated data hygiene:</a:t>
            </a:r>
          </a:p>
          <a:p>
            <a:pPr algn="just">
              <a:lnSpc>
                <a:spcPts val="3644"/>
              </a:lnSpc>
            </a:pPr>
          </a:p>
          <a:p>
            <a:pPr algn="just">
              <a:lnSpc>
                <a:spcPts val="3644"/>
              </a:lnSpc>
            </a:pPr>
            <a:r>
              <a:rPr lang="en-US" b="true" sz="2699" spc="161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Outlier Capping</a:t>
            </a:r>
          </a:p>
          <a:p>
            <a:pPr algn="just">
              <a:lnSpc>
                <a:spcPts val="3644"/>
              </a:lnSpc>
            </a:pPr>
          </a:p>
          <a:p>
            <a:pPr algn="just">
              <a:lnSpc>
                <a:spcPts val="3644"/>
              </a:lnSpc>
            </a:pPr>
            <a:r>
              <a:rPr lang="en-US" sz="2699" spc="161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Winsorization of numerical tails to prevent extreme values from distorting weights.</a:t>
            </a:r>
          </a:p>
          <a:p>
            <a:pPr algn="just">
              <a:lnSpc>
                <a:spcPts val="3644"/>
              </a:lnSpc>
            </a:pPr>
          </a:p>
          <a:p>
            <a:pPr algn="just">
              <a:lnSpc>
                <a:spcPts val="3644"/>
              </a:lnSpc>
            </a:pPr>
            <a:r>
              <a:rPr lang="en-US" b="true" sz="2699" spc="161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Skewness Management</a:t>
            </a:r>
          </a:p>
          <a:p>
            <a:pPr algn="just">
              <a:lnSpc>
                <a:spcPts val="3644"/>
              </a:lnSpc>
            </a:pPr>
          </a:p>
          <a:p>
            <a:pPr algn="l" marL="0" indent="0" lvl="0">
              <a:lnSpc>
                <a:spcPts val="3644"/>
              </a:lnSpc>
              <a:spcBef>
                <a:spcPct val="0"/>
              </a:spcBef>
            </a:pPr>
            <a:r>
              <a:rPr lang="en-US" sz="2699" spc="161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Logarithmic (Log1p) transformation for heavily skewed transaction amounts.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144000" y="7046176"/>
            <a:ext cx="15177319" cy="15177319"/>
          </a:xfrm>
          <a:custGeom>
            <a:avLst/>
            <a:gdLst/>
            <a:ahLst/>
            <a:cxnLst/>
            <a:rect r="r" b="b" t="t" l="l"/>
            <a:pathLst>
              <a:path h="15177319" w="15177319">
                <a:moveTo>
                  <a:pt x="0" y="0"/>
                </a:moveTo>
                <a:lnTo>
                  <a:pt x="15177319" y="0"/>
                </a:lnTo>
                <a:lnTo>
                  <a:pt x="15177319" y="15177319"/>
                </a:lnTo>
                <a:lnTo>
                  <a:pt x="0" y="151773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17093" y="2071195"/>
            <a:ext cx="8388228" cy="5525556"/>
            <a:chOff x="0" y="0"/>
            <a:chExt cx="2209245" cy="14552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09245" cy="1455290"/>
            </a:xfrm>
            <a:custGeom>
              <a:avLst/>
              <a:gdLst/>
              <a:ahLst/>
              <a:cxnLst/>
              <a:rect r="r" b="b" t="t" l="l"/>
              <a:pathLst>
                <a:path h="1455290" w="2209245">
                  <a:moveTo>
                    <a:pt x="0" y="0"/>
                  </a:moveTo>
                  <a:lnTo>
                    <a:pt x="2209245" y="0"/>
                  </a:lnTo>
                  <a:lnTo>
                    <a:pt x="2209245" y="1455290"/>
                  </a:lnTo>
                  <a:lnTo>
                    <a:pt x="0" y="1455290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209245" cy="15124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886143" y="2485497"/>
            <a:ext cx="7980499" cy="3653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4"/>
              </a:lnSpc>
            </a:pPr>
            <a:r>
              <a:rPr lang="en-US" sz="2699" spc="161">
                <a:solidFill>
                  <a:srgbClr val="EFEFEF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class OutlierCapper(BaseEstimator, TransformerMixin):</a:t>
            </a:r>
          </a:p>
          <a:p>
            <a:pPr algn="l">
              <a:lnSpc>
                <a:spcPts val="3644"/>
              </a:lnSpc>
            </a:pPr>
            <a:r>
              <a:rPr lang="en-US" sz="2699" spc="161">
                <a:solidFill>
                  <a:srgbClr val="EFEFEF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def fit(self, X):</a:t>
            </a:r>
          </a:p>
          <a:p>
            <a:pPr algn="l">
              <a:lnSpc>
                <a:spcPts val="3644"/>
              </a:lnSpc>
            </a:pPr>
            <a:r>
              <a:rPr lang="en-US" sz="2699" spc="161">
                <a:solidFill>
                  <a:srgbClr val="EFEFEF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    self.lower_ = X.quantile(0.01)</a:t>
            </a:r>
          </a:p>
          <a:p>
            <a:pPr algn="l">
              <a:lnSpc>
                <a:spcPts val="3644"/>
              </a:lnSpc>
            </a:pPr>
            <a:r>
              <a:rPr lang="en-US" sz="2699" spc="161">
                <a:solidFill>
                  <a:srgbClr val="EFEFEF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    self.upper_ = X.quantile(0.99)</a:t>
            </a:r>
          </a:p>
          <a:p>
            <a:pPr algn="l">
              <a:lnSpc>
                <a:spcPts val="3644"/>
              </a:lnSpc>
            </a:pPr>
            <a:r>
              <a:rPr lang="en-US" sz="2699" spc="161">
                <a:solidFill>
                  <a:srgbClr val="EFEFEF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    return self</a:t>
            </a:r>
          </a:p>
          <a:p>
            <a:pPr algn="l">
              <a:lnSpc>
                <a:spcPts val="3644"/>
              </a:lnSpc>
            </a:pPr>
            <a:r>
              <a:rPr lang="en-US" sz="2699" spc="161">
                <a:solidFill>
                  <a:srgbClr val="EFEFEF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def transform(self, X):</a:t>
            </a:r>
          </a:p>
          <a:p>
            <a:pPr algn="l" marL="0" indent="0" lvl="0">
              <a:lnSpc>
                <a:spcPts val="3644"/>
              </a:lnSpc>
              <a:spcBef>
                <a:spcPct val="0"/>
              </a:spcBef>
            </a:pPr>
            <a:r>
              <a:rPr lang="en-US" sz="2699" spc="161">
                <a:solidFill>
                  <a:srgbClr val="EFEFEF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       return X.clip(self.lower_, self.upper_, axis=1)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17093" y="450517"/>
            <a:ext cx="17036374" cy="1703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6"/>
              </a:lnSpc>
            </a:pPr>
            <a:r>
              <a:rPr lang="en-US" b="true" sz="6800" spc="-319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| COMPREHENSIVE FEATURE ENGINEERING</a:t>
            </a:r>
          </a:p>
          <a:p>
            <a:pPr algn="l">
              <a:lnSpc>
                <a:spcPts val="6596"/>
              </a:lnSpc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540893" y="2349526"/>
            <a:ext cx="4017272" cy="3360468"/>
            <a:chOff x="0" y="0"/>
            <a:chExt cx="2741757" cy="229349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41757" cy="2293493"/>
            </a:xfrm>
            <a:custGeom>
              <a:avLst/>
              <a:gdLst/>
              <a:ahLst/>
              <a:cxnLst/>
              <a:rect r="r" b="b" t="t" l="l"/>
              <a:pathLst>
                <a:path h="2293493" w="2741757">
                  <a:moveTo>
                    <a:pt x="0" y="0"/>
                  </a:moveTo>
                  <a:lnTo>
                    <a:pt x="2741757" y="0"/>
                  </a:lnTo>
                  <a:lnTo>
                    <a:pt x="2741757" y="2293493"/>
                  </a:lnTo>
                  <a:lnTo>
                    <a:pt x="0" y="2293493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2741757" cy="23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17093" y="2725904"/>
            <a:ext cx="3897809" cy="2040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9"/>
              </a:lnSpc>
            </a:pPr>
            <a:r>
              <a:rPr lang="en-US" b="true" sz="2399" spc="143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Financial Ratios</a:t>
            </a:r>
          </a:p>
          <a:p>
            <a:pPr algn="ctr">
              <a:lnSpc>
                <a:spcPts val="3239"/>
              </a:lnSpc>
            </a:pPr>
          </a:p>
          <a:p>
            <a:pPr algn="l">
              <a:lnSpc>
                <a:spcPts val="3239"/>
              </a:lnSpc>
            </a:pPr>
            <a:r>
              <a:rPr lang="en-US" sz="2399" spc="143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Amount / Item Price</a:t>
            </a:r>
          </a:p>
          <a:p>
            <a:pPr algn="l">
              <a:lnSpc>
                <a:spcPts val="3239"/>
              </a:lnSpc>
            </a:pPr>
            <a:r>
              <a:rPr lang="en-US" sz="2399" spc="143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Amount / Card Age</a:t>
            </a:r>
          </a:p>
          <a:p>
            <a:pPr algn="l">
              <a:lnSpc>
                <a:spcPts val="3239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4718134" y="2349526"/>
            <a:ext cx="4017272" cy="3360468"/>
            <a:chOff x="0" y="0"/>
            <a:chExt cx="2741757" cy="229349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41757" cy="2293493"/>
            </a:xfrm>
            <a:custGeom>
              <a:avLst/>
              <a:gdLst/>
              <a:ahLst/>
              <a:cxnLst/>
              <a:rect r="r" b="b" t="t" l="l"/>
              <a:pathLst>
                <a:path h="2293493" w="2741757">
                  <a:moveTo>
                    <a:pt x="0" y="0"/>
                  </a:moveTo>
                  <a:lnTo>
                    <a:pt x="2741757" y="0"/>
                  </a:lnTo>
                  <a:lnTo>
                    <a:pt x="2741757" y="2293493"/>
                  </a:lnTo>
                  <a:lnTo>
                    <a:pt x="0" y="2293493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741757" cy="23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40893" y="5897832"/>
            <a:ext cx="4017272" cy="3360468"/>
            <a:chOff x="0" y="0"/>
            <a:chExt cx="2741757" cy="229349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41757" cy="2293493"/>
            </a:xfrm>
            <a:custGeom>
              <a:avLst/>
              <a:gdLst/>
              <a:ahLst/>
              <a:cxnLst/>
              <a:rect r="r" b="b" t="t" l="l"/>
              <a:pathLst>
                <a:path h="2293493" w="2741757">
                  <a:moveTo>
                    <a:pt x="0" y="0"/>
                  </a:moveTo>
                  <a:lnTo>
                    <a:pt x="2741757" y="0"/>
                  </a:lnTo>
                  <a:lnTo>
                    <a:pt x="2741757" y="2293493"/>
                  </a:lnTo>
                  <a:lnTo>
                    <a:pt x="0" y="2293493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2741757" cy="23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715026" y="5897832"/>
            <a:ext cx="4017272" cy="3360468"/>
            <a:chOff x="0" y="0"/>
            <a:chExt cx="2741757" cy="229349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741757" cy="2293493"/>
            </a:xfrm>
            <a:custGeom>
              <a:avLst/>
              <a:gdLst/>
              <a:ahLst/>
              <a:cxnLst/>
              <a:rect r="r" b="b" t="t" l="l"/>
              <a:pathLst>
                <a:path h="2293493" w="2741757">
                  <a:moveTo>
                    <a:pt x="0" y="0"/>
                  </a:moveTo>
                  <a:lnTo>
                    <a:pt x="2741757" y="0"/>
                  </a:lnTo>
                  <a:lnTo>
                    <a:pt x="2741757" y="2293493"/>
                  </a:lnTo>
                  <a:lnTo>
                    <a:pt x="0" y="2293493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741757" cy="23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144000" y="2349526"/>
            <a:ext cx="9242906" cy="3996704"/>
            <a:chOff x="0" y="0"/>
            <a:chExt cx="6308211" cy="272771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308211" cy="2727720"/>
            </a:xfrm>
            <a:custGeom>
              <a:avLst/>
              <a:gdLst/>
              <a:ahLst/>
              <a:cxnLst/>
              <a:rect r="r" b="b" t="t" l="l"/>
              <a:pathLst>
                <a:path h="2727720" w="6308211">
                  <a:moveTo>
                    <a:pt x="0" y="0"/>
                  </a:moveTo>
                  <a:lnTo>
                    <a:pt x="6308211" y="0"/>
                  </a:lnTo>
                  <a:lnTo>
                    <a:pt x="6308211" y="2727720"/>
                  </a:lnTo>
                  <a:lnTo>
                    <a:pt x="0" y="2727720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6308211" cy="27848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9449884" y="2541302"/>
            <a:ext cx="8320310" cy="2180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61"/>
              </a:lnSpc>
            </a:pPr>
            <a:r>
              <a:rPr lang="en-US" sz="2564" spc="153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# Interaction Feature Code</a:t>
            </a:r>
          </a:p>
          <a:p>
            <a:pPr algn="just">
              <a:lnSpc>
                <a:spcPts val="3461"/>
              </a:lnSpc>
            </a:pPr>
            <a:r>
              <a:rPr lang="en-US" sz="2564" spc="153">
                <a:solidFill>
                  <a:srgbClr val="EFEFEF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X['amount_per_item'] = X['amount_aed'] / X['avg_price']</a:t>
            </a:r>
          </a:p>
          <a:p>
            <a:pPr algn="just">
              <a:lnSpc>
                <a:spcPts val="3461"/>
              </a:lnSpc>
            </a:pPr>
            <a:r>
              <a:rPr lang="en-US" sz="2564" spc="153">
                <a:solidFill>
                  <a:srgbClr val="EFEFEF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X['amount_x_risk'] = X['amount_aed'] * X['ip_risk']</a:t>
            </a:r>
          </a:p>
          <a:p>
            <a:pPr algn="just">
              <a:lnSpc>
                <a:spcPts val="3461"/>
              </a:lnSpc>
            </a:pPr>
            <a:r>
              <a:rPr lang="en-US" sz="2564" spc="153">
                <a:solidFill>
                  <a:srgbClr val="EFEFEF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X['is_disposable'] = X['email'].str.contains('temp|mail')</a:t>
            </a:r>
          </a:p>
          <a:p>
            <a:pPr algn="just" marL="0" indent="0" lvl="0">
              <a:lnSpc>
                <a:spcPts val="3461"/>
              </a:lnSpc>
              <a:spcBef>
                <a:spcPct val="0"/>
              </a:spcBef>
            </a:pPr>
            <a:r>
              <a:rPr lang="en-US" sz="2564" spc="153">
                <a:solidFill>
                  <a:srgbClr val="EFEFEF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X['risk_velocity'] = X['ip_risk'] * X['tx_last_1h']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769494" y="2725904"/>
            <a:ext cx="3994863" cy="2040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9"/>
              </a:lnSpc>
            </a:pPr>
            <a:r>
              <a:rPr lang="en-US" b="true" sz="2399" spc="143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Behavioral Flags</a:t>
            </a:r>
          </a:p>
          <a:p>
            <a:pPr algn="ctr">
              <a:lnSpc>
                <a:spcPts val="3239"/>
              </a:lnSpc>
            </a:pPr>
          </a:p>
          <a:p>
            <a:pPr algn="l">
              <a:lnSpc>
                <a:spcPts val="3239"/>
              </a:lnSpc>
            </a:pPr>
            <a:r>
              <a:rPr lang="en-US" sz="2399" spc="143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Fresh High Value (&lt; 14d)</a:t>
            </a:r>
          </a:p>
          <a:p>
            <a:pPr algn="l">
              <a:lnSpc>
                <a:spcPts val="3239"/>
              </a:lnSpc>
            </a:pPr>
            <a:r>
              <a:rPr lang="en-US" sz="2399" spc="143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High Amount (&gt; 2k AED)</a:t>
            </a:r>
          </a:p>
          <a:p>
            <a:pPr algn="l">
              <a:lnSpc>
                <a:spcPts val="3239"/>
              </a:lnSpc>
            </a:pPr>
            <a:r>
              <a:rPr lang="en-US" sz="2399" spc="143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Velocity Ratio (1h/24h)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00625" y="6254195"/>
            <a:ext cx="3930745" cy="2449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9"/>
              </a:lnSpc>
            </a:pPr>
            <a:r>
              <a:rPr lang="en-US" b="true" sz="2399" spc="143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Risk &amp; Interaction</a:t>
            </a:r>
          </a:p>
          <a:p>
            <a:pPr algn="ctr">
              <a:lnSpc>
                <a:spcPts val="3239"/>
              </a:lnSpc>
            </a:pPr>
          </a:p>
          <a:p>
            <a:pPr algn="l">
              <a:lnSpc>
                <a:spcPts val="3239"/>
              </a:lnSpc>
            </a:pPr>
            <a:r>
              <a:rPr lang="en-US" sz="2399" spc="143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Amount x IP Risk Score</a:t>
            </a:r>
          </a:p>
          <a:p>
            <a:pPr algn="l">
              <a:lnSpc>
                <a:spcPts val="3239"/>
              </a:lnSpc>
            </a:pPr>
            <a:r>
              <a:rPr lang="en-US" sz="2399" spc="143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Risk Velocity (Risk * 1h)</a:t>
            </a:r>
          </a:p>
          <a:p>
            <a:pPr algn="l">
              <a:lnSpc>
                <a:spcPts val="3239"/>
              </a:lnSpc>
            </a:pPr>
            <a:r>
              <a:rPr lang="en-US" sz="2399" spc="143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Combined Risk Score</a:t>
            </a:r>
          </a:p>
          <a:p>
            <a:pPr algn="l">
              <a:lnSpc>
                <a:spcPts val="3239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4801553" y="6254195"/>
            <a:ext cx="3930745" cy="2449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9"/>
              </a:lnSpc>
            </a:pPr>
            <a:r>
              <a:rPr lang="en-US" b="true" sz="2399" spc="143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Temporal Patterns</a:t>
            </a:r>
          </a:p>
          <a:p>
            <a:pPr algn="ctr">
              <a:lnSpc>
                <a:spcPts val="3239"/>
              </a:lnSpc>
            </a:pPr>
          </a:p>
          <a:p>
            <a:pPr algn="l">
              <a:lnSpc>
                <a:spcPts val="3239"/>
              </a:lnSpc>
            </a:pPr>
            <a:r>
              <a:rPr lang="en-US" sz="2399" spc="143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Day of Week / Weekend</a:t>
            </a:r>
          </a:p>
          <a:p>
            <a:pPr algn="l">
              <a:lnSpc>
                <a:spcPts val="3239"/>
              </a:lnSpc>
            </a:pPr>
            <a:r>
              <a:rPr lang="en-US" sz="2399" spc="143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Night High Risk</a:t>
            </a:r>
          </a:p>
          <a:p>
            <a:pPr algn="l">
              <a:lnSpc>
                <a:spcPts val="3239"/>
              </a:lnSpc>
            </a:pPr>
            <a:r>
              <a:rPr lang="en-US" sz="2399" spc="143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Local Hour Binning</a:t>
            </a:r>
          </a:p>
          <a:p>
            <a:pPr algn="ctr" marL="0" indent="0" lvl="0">
              <a:lnSpc>
                <a:spcPts val="323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939359" y="-6370606"/>
            <a:ext cx="9598990" cy="9598990"/>
          </a:xfrm>
          <a:custGeom>
            <a:avLst/>
            <a:gdLst/>
            <a:ahLst/>
            <a:cxnLst/>
            <a:rect r="r" b="b" t="t" l="l"/>
            <a:pathLst>
              <a:path h="9598990" w="9598990">
                <a:moveTo>
                  <a:pt x="0" y="0"/>
                </a:moveTo>
                <a:lnTo>
                  <a:pt x="9598990" y="0"/>
                </a:lnTo>
                <a:lnTo>
                  <a:pt x="9598990" y="9598990"/>
                </a:lnTo>
                <a:lnTo>
                  <a:pt x="0" y="95989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091851" y="3657009"/>
            <a:ext cx="11265160" cy="573955"/>
            <a:chOff x="0" y="0"/>
            <a:chExt cx="3771105" cy="19213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71105" cy="192136"/>
            </a:xfrm>
            <a:custGeom>
              <a:avLst/>
              <a:gdLst/>
              <a:ahLst/>
              <a:cxnLst/>
              <a:rect r="r" b="b" t="t" l="l"/>
              <a:pathLst>
                <a:path h="192136" w="3771105">
                  <a:moveTo>
                    <a:pt x="0" y="0"/>
                  </a:moveTo>
                  <a:lnTo>
                    <a:pt x="3771105" y="0"/>
                  </a:lnTo>
                  <a:lnTo>
                    <a:pt x="3771105" y="192136"/>
                  </a:lnTo>
                  <a:lnTo>
                    <a:pt x="0" y="192136"/>
                  </a:lnTo>
                  <a:close/>
                </a:path>
              </a:pathLst>
            </a:custGeom>
            <a:gradFill rotWithShape="true">
              <a:gsLst>
                <a:gs pos="0">
                  <a:srgbClr val="4BD1FB">
                    <a:alpha val="70000"/>
                  </a:srgbClr>
                </a:gs>
                <a:gs pos="100000">
                  <a:srgbClr val="2D66A9">
                    <a:alpha val="7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104775"/>
              <a:ext cx="3771105" cy="873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091851" y="4374379"/>
            <a:ext cx="11208010" cy="573955"/>
            <a:chOff x="0" y="0"/>
            <a:chExt cx="3751973" cy="19213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751973" cy="192136"/>
            </a:xfrm>
            <a:custGeom>
              <a:avLst/>
              <a:gdLst/>
              <a:ahLst/>
              <a:cxnLst/>
              <a:rect r="r" b="b" t="t" l="l"/>
              <a:pathLst>
                <a:path h="192136" w="3751973">
                  <a:moveTo>
                    <a:pt x="0" y="0"/>
                  </a:moveTo>
                  <a:lnTo>
                    <a:pt x="3751973" y="0"/>
                  </a:lnTo>
                  <a:lnTo>
                    <a:pt x="3751973" y="192136"/>
                  </a:lnTo>
                  <a:lnTo>
                    <a:pt x="0" y="192136"/>
                  </a:lnTo>
                  <a:close/>
                </a:path>
              </a:pathLst>
            </a:custGeom>
            <a:gradFill rotWithShape="true">
              <a:gsLst>
                <a:gs pos="0">
                  <a:srgbClr val="4BD1FB">
                    <a:alpha val="70000"/>
                  </a:srgbClr>
                </a:gs>
                <a:gs pos="100000">
                  <a:srgbClr val="2D66A9">
                    <a:alpha val="7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104775"/>
              <a:ext cx="3751973" cy="873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091851" y="5091037"/>
            <a:ext cx="10376906" cy="537545"/>
            <a:chOff x="0" y="0"/>
            <a:chExt cx="3473755" cy="17994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473755" cy="179948"/>
            </a:xfrm>
            <a:custGeom>
              <a:avLst/>
              <a:gdLst/>
              <a:ahLst/>
              <a:cxnLst/>
              <a:rect r="r" b="b" t="t" l="l"/>
              <a:pathLst>
                <a:path h="179948" w="3473755">
                  <a:moveTo>
                    <a:pt x="0" y="0"/>
                  </a:moveTo>
                  <a:lnTo>
                    <a:pt x="3473755" y="0"/>
                  </a:lnTo>
                  <a:lnTo>
                    <a:pt x="3473755" y="179948"/>
                  </a:lnTo>
                  <a:lnTo>
                    <a:pt x="0" y="179948"/>
                  </a:lnTo>
                  <a:close/>
                </a:path>
              </a:pathLst>
            </a:custGeom>
            <a:gradFill rotWithShape="true">
              <a:gsLst>
                <a:gs pos="0">
                  <a:srgbClr val="4BD1FB">
                    <a:alpha val="67000"/>
                  </a:srgbClr>
                </a:gs>
                <a:gs pos="100000">
                  <a:srgbClr val="2D66A9">
                    <a:alpha val="67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104775"/>
              <a:ext cx="3473755" cy="751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617093" y="864854"/>
            <a:ext cx="13138311" cy="874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6"/>
              </a:lnSpc>
            </a:pPr>
            <a:r>
              <a:rPr lang="en-US" b="true" sz="6800" spc="-319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| ALGORITHM BENCHMARKING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3091851" y="5771286"/>
            <a:ext cx="10348331" cy="537545"/>
            <a:chOff x="0" y="0"/>
            <a:chExt cx="3464189" cy="17994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464189" cy="179948"/>
            </a:xfrm>
            <a:custGeom>
              <a:avLst/>
              <a:gdLst/>
              <a:ahLst/>
              <a:cxnLst/>
              <a:rect r="r" b="b" t="t" l="l"/>
              <a:pathLst>
                <a:path h="179948" w="3464189">
                  <a:moveTo>
                    <a:pt x="0" y="0"/>
                  </a:moveTo>
                  <a:lnTo>
                    <a:pt x="3464189" y="0"/>
                  </a:lnTo>
                  <a:lnTo>
                    <a:pt x="3464189" y="179948"/>
                  </a:lnTo>
                  <a:lnTo>
                    <a:pt x="0" y="179948"/>
                  </a:lnTo>
                  <a:close/>
                </a:path>
              </a:pathLst>
            </a:custGeom>
            <a:gradFill rotWithShape="true">
              <a:gsLst>
                <a:gs pos="0">
                  <a:srgbClr val="4BD1FB">
                    <a:alpha val="66000"/>
                  </a:srgbClr>
                </a:gs>
                <a:gs pos="100000">
                  <a:srgbClr val="2D66A9">
                    <a:alpha val="66000"/>
                  </a:srgbClr>
                </a:gs>
              </a:gsLst>
              <a:lin ang="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104775"/>
              <a:ext cx="3464189" cy="751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091851" y="6451534"/>
            <a:ext cx="10329281" cy="537545"/>
            <a:chOff x="0" y="0"/>
            <a:chExt cx="3457812" cy="17994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457812" cy="179948"/>
            </a:xfrm>
            <a:custGeom>
              <a:avLst/>
              <a:gdLst/>
              <a:ahLst/>
              <a:cxnLst/>
              <a:rect r="r" b="b" t="t" l="l"/>
              <a:pathLst>
                <a:path h="179948" w="3457812">
                  <a:moveTo>
                    <a:pt x="0" y="0"/>
                  </a:moveTo>
                  <a:lnTo>
                    <a:pt x="3457812" y="0"/>
                  </a:lnTo>
                  <a:lnTo>
                    <a:pt x="3457812" y="179948"/>
                  </a:lnTo>
                  <a:lnTo>
                    <a:pt x="0" y="179948"/>
                  </a:lnTo>
                  <a:close/>
                </a:path>
              </a:pathLst>
            </a:custGeom>
            <a:gradFill rotWithShape="true">
              <a:gsLst>
                <a:gs pos="0">
                  <a:srgbClr val="4BD1FB">
                    <a:alpha val="67000"/>
                  </a:srgbClr>
                </a:gs>
                <a:gs pos="100000">
                  <a:srgbClr val="2D66A9">
                    <a:alpha val="67000"/>
                  </a:srgbClr>
                </a:gs>
              </a:gsLst>
              <a:lin ang="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104775"/>
              <a:ext cx="3457812" cy="751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857625" y="2368999"/>
            <a:ext cx="5733256" cy="592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35"/>
              </a:lnSpc>
            </a:pPr>
            <a:r>
              <a:rPr lang="en-US" sz="345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Test </a:t>
            </a:r>
            <a:r>
              <a:rPr lang="en-US" b="true" sz="345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AUC-ROC Comparison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75515" y="7627254"/>
            <a:ext cx="14543331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Result: Tuned Logistic Regression provi</a:t>
            </a: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ded the best stability and AUC on the test set, specifically benefiting from the normalized interaction features.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26568" y="3683002"/>
            <a:ext cx="2687122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LR Tune</a:t>
            </a:r>
            <a:r>
              <a:rPr lang="en-US" b="true" sz="27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 (Final)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00430" y="4400372"/>
            <a:ext cx="1313259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LR Base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75515" y="5114229"/>
            <a:ext cx="2538174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80"/>
              </a:lnSpc>
            </a:pPr>
            <a:r>
              <a:rPr lang="en-US" sz="27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Random Forest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61960" y="5779073"/>
            <a:ext cx="1451729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b="true" sz="27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XGBoost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54673" y="6459322"/>
            <a:ext cx="1659017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</a:t>
            </a:r>
            <a:r>
              <a:rPr lang="en-US" b="true" sz="27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ightGBM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056607" y="3683002"/>
            <a:ext cx="1177409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0.7090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044165" y="4400372"/>
            <a:ext cx="1126093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0.7085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318494" y="5098825"/>
            <a:ext cx="1079183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0.6874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277894" y="5780982"/>
            <a:ext cx="1084183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0.6857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174846" y="6459322"/>
            <a:ext cx="1165503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0.6850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17093" y="853869"/>
            <a:ext cx="16776456" cy="896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93"/>
              </a:lnSpc>
            </a:pPr>
            <a:r>
              <a:rPr lang="en-US" b="true" sz="6900" spc="-324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| THRESHOLD &amp; F1 OPTIMIZATION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17093" y="2909769"/>
            <a:ext cx="7980499" cy="3927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49"/>
              </a:lnSpc>
            </a:pPr>
            <a:r>
              <a:rPr lang="en-US" sz="2999" spc="17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Optimal Threshold</a:t>
            </a:r>
          </a:p>
          <a:p>
            <a:pPr algn="ctr">
              <a:lnSpc>
                <a:spcPts val="14849"/>
              </a:lnSpc>
            </a:pPr>
            <a:r>
              <a:rPr lang="en-US" b="true" sz="10999" spc="659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0.63</a:t>
            </a:r>
          </a:p>
          <a:p>
            <a:pPr algn="ctr">
              <a:lnSpc>
                <a:spcPts val="4049"/>
              </a:lnSpc>
            </a:pPr>
            <a:r>
              <a:rPr lang="en-US" b="true" sz="2999" spc="179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Maximized F1-Score: 0.2560</a:t>
            </a:r>
          </a:p>
          <a:p>
            <a:pPr algn="ctr">
              <a:lnSpc>
                <a:spcPts val="4724"/>
              </a:lnSpc>
            </a:pPr>
          </a:p>
          <a:p>
            <a:pPr algn="ctr" marL="0" indent="0" lvl="0">
              <a:lnSpc>
                <a:spcPts val="3644"/>
              </a:lnSpc>
              <a:spcBef>
                <a:spcPct val="0"/>
              </a:spcBef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5362875" y="4569741"/>
            <a:ext cx="15177319" cy="15177319"/>
          </a:xfrm>
          <a:custGeom>
            <a:avLst/>
            <a:gdLst/>
            <a:ahLst/>
            <a:cxnLst/>
            <a:rect r="r" b="b" t="t" l="l"/>
            <a:pathLst>
              <a:path h="15177319" w="15177319">
                <a:moveTo>
                  <a:pt x="0" y="0"/>
                </a:moveTo>
                <a:lnTo>
                  <a:pt x="15177319" y="0"/>
                </a:lnTo>
                <a:lnTo>
                  <a:pt x="15177319" y="15177319"/>
                </a:lnTo>
                <a:lnTo>
                  <a:pt x="0" y="151773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9144000" y="5305425"/>
            <a:ext cx="8849800" cy="3048733"/>
            <a:chOff x="0" y="0"/>
            <a:chExt cx="2330811" cy="8029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30811" cy="802958"/>
            </a:xfrm>
            <a:custGeom>
              <a:avLst/>
              <a:gdLst/>
              <a:ahLst/>
              <a:cxnLst/>
              <a:rect r="r" b="b" t="t" l="l"/>
              <a:pathLst>
                <a:path h="802958" w="2330811">
                  <a:moveTo>
                    <a:pt x="0" y="0"/>
                  </a:moveTo>
                  <a:lnTo>
                    <a:pt x="2330811" y="0"/>
                  </a:lnTo>
                  <a:lnTo>
                    <a:pt x="2330811" y="802958"/>
                  </a:lnTo>
                  <a:lnTo>
                    <a:pt x="0" y="802958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330811" cy="8601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578650" y="5893484"/>
            <a:ext cx="7980499" cy="182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4"/>
              </a:lnSpc>
            </a:pPr>
            <a:r>
              <a:rPr lang="en-US" sz="2699" spc="161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thresholds = np.arange(0.01, 1, 0.01)</a:t>
            </a:r>
          </a:p>
          <a:p>
            <a:pPr algn="just">
              <a:lnSpc>
                <a:spcPts val="3644"/>
              </a:lnSpc>
            </a:pPr>
            <a:r>
              <a:rPr lang="en-US" sz="2699" spc="161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f1_scores = [f1_score(y_test, (y_prob &gt;= t)) for t in thresholds]</a:t>
            </a:r>
          </a:p>
          <a:p>
            <a:pPr algn="just" marL="0" indent="0" lvl="0">
              <a:lnSpc>
                <a:spcPts val="3644"/>
              </a:lnSpc>
              <a:spcBef>
                <a:spcPct val="0"/>
              </a:spcBef>
            </a:pPr>
            <a:r>
              <a:rPr lang="en-US" sz="2699" spc="161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best_t = thresholds[np.argmax(f1_scores)]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0" y="2194409"/>
            <a:ext cx="8849800" cy="2880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Business Logic</a:t>
            </a:r>
          </a:p>
          <a:p>
            <a:pPr algn="l">
              <a:lnSpc>
                <a:spcPts val="3779"/>
              </a:lnSpc>
            </a:pPr>
          </a:p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Stan</a:t>
            </a: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dard 0.5 threshold was suboptimal for the cost-sensitive nature of fraud detection. Shifting to 0.63 optimizes the trade-off between Precision and Recall.</a:t>
            </a:r>
          </a:p>
          <a:p>
            <a:pPr algn="l">
              <a:lnSpc>
                <a:spcPts val="3779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17093" y="853869"/>
            <a:ext cx="16776456" cy="896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93"/>
              </a:lnSpc>
            </a:pPr>
            <a:r>
              <a:rPr lang="en-US" b="true" sz="6900" spc="-324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| KEY FRAUD PREDICTORS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350174" y="2485497"/>
            <a:ext cx="8380374" cy="4155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49"/>
              </a:lnSpc>
            </a:pPr>
            <a:r>
              <a:rPr lang="en-US" b="true" sz="2999" spc="179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Insights</a:t>
            </a:r>
          </a:p>
          <a:p>
            <a:pPr algn="just">
              <a:lnSpc>
                <a:spcPts val="3645"/>
              </a:lnSpc>
            </a:pPr>
          </a:p>
          <a:p>
            <a:pPr algn="just">
              <a:lnSpc>
                <a:spcPts val="3645"/>
              </a:lnSpc>
            </a:pPr>
            <a:r>
              <a:rPr lang="en-US" sz="2700" spc="162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The</a:t>
            </a:r>
            <a:r>
              <a:rPr lang="en-US" sz="2700" spc="162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model heavily relies on IP Reputation and Account Recency. New accounts linked to high-risk IPs are primary indicators.</a:t>
            </a:r>
          </a:p>
          <a:p>
            <a:pPr algn="just" marL="0" indent="0" lvl="0">
              <a:lnSpc>
                <a:spcPts val="3645"/>
              </a:lnSpc>
              <a:spcBef>
                <a:spcPct val="0"/>
              </a:spcBef>
            </a:pPr>
            <a:r>
              <a:rPr lang="en-US" sz="2700" spc="162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Interestingly, lower average </a:t>
            </a:r>
            <a:r>
              <a:rPr lang="en-US" sz="2700" spc="162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item prices correlate with higher fraud risk, possibly indicating a "testing" phase by fraudsters.</a:t>
            </a:r>
          </a:p>
          <a:p>
            <a:pPr algn="l" marL="0" indent="0" lvl="0">
              <a:lnSpc>
                <a:spcPts val="3645"/>
              </a:lnSpc>
              <a:spcBef>
                <a:spcPct val="0"/>
              </a:spcBef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144000" y="7046176"/>
            <a:ext cx="15177319" cy="15177319"/>
          </a:xfrm>
          <a:custGeom>
            <a:avLst/>
            <a:gdLst/>
            <a:ahLst/>
            <a:cxnLst/>
            <a:rect r="r" b="b" t="t" l="l"/>
            <a:pathLst>
              <a:path h="15177319" w="15177319">
                <a:moveTo>
                  <a:pt x="0" y="0"/>
                </a:moveTo>
                <a:lnTo>
                  <a:pt x="15177319" y="0"/>
                </a:lnTo>
                <a:lnTo>
                  <a:pt x="15177319" y="15177319"/>
                </a:lnTo>
                <a:lnTo>
                  <a:pt x="0" y="151773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17093" y="2071195"/>
            <a:ext cx="8388228" cy="5525556"/>
            <a:chOff x="0" y="0"/>
            <a:chExt cx="2209245" cy="14552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09245" cy="1455290"/>
            </a:xfrm>
            <a:custGeom>
              <a:avLst/>
              <a:gdLst/>
              <a:ahLst/>
              <a:cxnLst/>
              <a:rect r="r" b="b" t="t" l="l"/>
              <a:pathLst>
                <a:path h="1455290" w="2209245">
                  <a:moveTo>
                    <a:pt x="0" y="0"/>
                  </a:moveTo>
                  <a:lnTo>
                    <a:pt x="2209245" y="0"/>
                  </a:lnTo>
                  <a:lnTo>
                    <a:pt x="2209245" y="1455290"/>
                  </a:lnTo>
                  <a:lnTo>
                    <a:pt x="0" y="1455290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209245" cy="15124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617093" y="2342622"/>
            <a:ext cx="8388228" cy="5278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7"/>
              </a:lnSpc>
            </a:pPr>
            <a:r>
              <a:rPr lang="en-US" sz="33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Feature                                Coefficient</a:t>
            </a:r>
          </a:p>
          <a:p>
            <a:pPr algn="ctr">
              <a:lnSpc>
                <a:spcPts val="6017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IP Risk Score                             +0.3784</a:t>
            </a:r>
          </a:p>
          <a:p>
            <a:pPr algn="ctr">
              <a:lnSpc>
                <a:spcPts val="6017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New Account Flag                  +0.3095</a:t>
            </a:r>
          </a:p>
          <a:p>
            <a:pPr algn="ctr">
              <a:lnSpc>
                <a:spcPts val="6017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Amount x IP Risk Score         +0.2868</a:t>
            </a:r>
          </a:p>
          <a:p>
            <a:pPr algn="ctr">
              <a:lnSpc>
                <a:spcPts val="6017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Is Disposable Email                +0.2498</a:t>
            </a:r>
          </a:p>
          <a:p>
            <a:pPr algn="ctr">
              <a:lnSpc>
                <a:spcPts val="6017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Avg Item Price                          -0.3055</a:t>
            </a:r>
          </a:p>
          <a:p>
            <a:pPr algn="ctr">
              <a:lnSpc>
                <a:spcPts val="6017"/>
              </a:lnSpc>
            </a:pPr>
          </a:p>
        </p:txBody>
      </p:sp>
      <p:sp>
        <p:nvSpPr>
          <p:cNvPr name="AutoShape 9" id="9"/>
          <p:cNvSpPr/>
          <p:nvPr/>
        </p:nvSpPr>
        <p:spPr>
          <a:xfrm>
            <a:off x="855118" y="3209720"/>
            <a:ext cx="775064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17093" y="881682"/>
            <a:ext cx="16776456" cy="822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11"/>
              </a:lnSpc>
            </a:pPr>
            <a:r>
              <a:rPr lang="en-US" b="true" sz="6300" spc="-296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| ERROR ANALYSIS: WHERE THE MODEL FAILS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17093" y="2919294"/>
            <a:ext cx="7980499" cy="5930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5"/>
              </a:lnSpc>
            </a:pPr>
            <a:r>
              <a:rPr lang="en-US" b="true" sz="2700" spc="162">
                <a:solidFill>
                  <a:srgbClr val="FF3131"/>
                </a:solidFill>
                <a:latin typeface="TT Hoves Bold"/>
                <a:ea typeface="TT Hoves Bold"/>
                <a:cs typeface="TT Hoves Bold"/>
                <a:sym typeface="TT Hoves Bold"/>
              </a:rPr>
              <a:t>Missed Frauds (FN)</a:t>
            </a:r>
          </a:p>
          <a:p>
            <a:pPr algn="just">
              <a:lnSpc>
                <a:spcPts val="3645"/>
              </a:lnSpc>
            </a:pPr>
          </a:p>
          <a:p>
            <a:pPr algn="just">
              <a:lnSpc>
                <a:spcPts val="3645"/>
              </a:lnSpc>
            </a:pPr>
            <a:r>
              <a:rPr lang="en-US" sz="2700" spc="162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Transactions with an average amount of 271 AED are the most likely to be missed. These are low-value, high-noise cases.</a:t>
            </a:r>
          </a:p>
          <a:p>
            <a:pPr algn="just">
              <a:lnSpc>
                <a:spcPts val="3645"/>
              </a:lnSpc>
            </a:pPr>
          </a:p>
          <a:p>
            <a:pPr algn="just">
              <a:lnSpc>
                <a:spcPts val="3645"/>
              </a:lnSpc>
            </a:pPr>
            <a:r>
              <a:rPr lang="en-US" b="true" sz="2700" spc="162">
                <a:solidFill>
                  <a:srgbClr val="0003FF"/>
                </a:solidFill>
                <a:latin typeface="TT Hoves Bold"/>
                <a:ea typeface="TT Hoves Bold"/>
                <a:cs typeface="TT Hoves Bold"/>
                <a:sym typeface="TT Hoves Bold"/>
              </a:rPr>
              <a:t>False Alarms (FP)</a:t>
            </a:r>
          </a:p>
          <a:p>
            <a:pPr algn="just">
              <a:lnSpc>
                <a:spcPts val="3645"/>
              </a:lnSpc>
            </a:pPr>
          </a:p>
          <a:p>
            <a:pPr algn="just">
              <a:lnSpc>
                <a:spcPts val="3645"/>
              </a:lnSpc>
            </a:pPr>
            <a:r>
              <a:rPr lang="en-US" sz="2700" spc="162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Usually newer accounts with high IP risk scores but low purchase volume. Enhancing account verification (OTP) could reduce these errors.</a:t>
            </a:r>
          </a:p>
          <a:p>
            <a:pPr algn="just" marL="0" indent="0" lvl="0">
              <a:lnSpc>
                <a:spcPts val="3645"/>
              </a:lnSpc>
              <a:spcBef>
                <a:spcPct val="0"/>
              </a:spcBef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144000" y="3467694"/>
            <a:ext cx="15177319" cy="15177319"/>
          </a:xfrm>
          <a:custGeom>
            <a:avLst/>
            <a:gdLst/>
            <a:ahLst/>
            <a:cxnLst/>
            <a:rect r="r" b="b" t="t" l="l"/>
            <a:pathLst>
              <a:path h="15177319" w="15177319">
                <a:moveTo>
                  <a:pt x="0" y="0"/>
                </a:moveTo>
                <a:lnTo>
                  <a:pt x="15177319" y="0"/>
                </a:lnTo>
                <a:lnTo>
                  <a:pt x="15177319" y="15177319"/>
                </a:lnTo>
                <a:lnTo>
                  <a:pt x="0" y="151773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9282679" y="3189691"/>
            <a:ext cx="8849800" cy="3217495"/>
            <a:chOff x="0" y="0"/>
            <a:chExt cx="2330811" cy="84740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30811" cy="847406"/>
            </a:xfrm>
            <a:custGeom>
              <a:avLst/>
              <a:gdLst/>
              <a:ahLst/>
              <a:cxnLst/>
              <a:rect r="r" b="b" t="t" l="l"/>
              <a:pathLst>
                <a:path h="847406" w="2330811">
                  <a:moveTo>
                    <a:pt x="0" y="0"/>
                  </a:moveTo>
                  <a:lnTo>
                    <a:pt x="2330811" y="0"/>
                  </a:lnTo>
                  <a:lnTo>
                    <a:pt x="2330811" y="847406"/>
                  </a:lnTo>
                  <a:lnTo>
                    <a:pt x="0" y="847406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330811" cy="9045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551729" y="3613518"/>
            <a:ext cx="7980499" cy="2272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4"/>
              </a:lnSpc>
            </a:pPr>
            <a:r>
              <a:rPr lang="en-US" sz="2699" spc="161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# Error Profiling</a:t>
            </a:r>
          </a:p>
          <a:p>
            <a:pPr algn="just">
              <a:lnSpc>
                <a:spcPts val="3644"/>
              </a:lnSpc>
            </a:pPr>
            <a:r>
              <a:rPr lang="en-US" sz="2699" spc="161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fn = test_df[(test_df.y == 1) &amp; (test_df.pred == 0)]</a:t>
            </a:r>
          </a:p>
          <a:p>
            <a:pPr algn="just">
              <a:lnSpc>
                <a:spcPts val="3644"/>
              </a:lnSpc>
            </a:pPr>
            <a:r>
              <a:rPr lang="en-US" sz="2699" spc="161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fp = test_df[(test_df.y == 0) &amp; (test_df.pred == 1)]</a:t>
            </a:r>
          </a:p>
          <a:p>
            <a:pPr algn="just">
              <a:lnSpc>
                <a:spcPts val="3644"/>
              </a:lnSpc>
            </a:pPr>
          </a:p>
          <a:p>
            <a:pPr algn="just" marL="0" indent="0" lvl="0">
              <a:lnSpc>
                <a:spcPts val="3644"/>
              </a:lnSpc>
              <a:spcBef>
                <a:spcPct val="0"/>
              </a:spcBef>
            </a:pPr>
            <a:r>
              <a:rPr lang="en-US" sz="2699" spc="161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print(fn['amount'].mean()) # Result: ~271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17093" y="864854"/>
            <a:ext cx="17036374" cy="874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6"/>
              </a:lnSpc>
            </a:pPr>
            <a:r>
              <a:rPr lang="en-US" b="true" sz="6800" spc="-319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| PROJECT SUMMARY &amp; DELIVERY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540893" y="2349526"/>
            <a:ext cx="8359721" cy="2294531"/>
            <a:chOff x="0" y="0"/>
            <a:chExt cx="8355939" cy="229349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355939" cy="2293493"/>
            </a:xfrm>
            <a:custGeom>
              <a:avLst/>
              <a:gdLst/>
              <a:ahLst/>
              <a:cxnLst/>
              <a:rect r="r" b="b" t="t" l="l"/>
              <a:pathLst>
                <a:path h="2293493" w="8355939">
                  <a:moveTo>
                    <a:pt x="0" y="0"/>
                  </a:moveTo>
                  <a:lnTo>
                    <a:pt x="8355939" y="0"/>
                  </a:lnTo>
                  <a:lnTo>
                    <a:pt x="8355939" y="2293493"/>
                  </a:lnTo>
                  <a:lnTo>
                    <a:pt x="0" y="2293493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8355939" cy="23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63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733731" y="2584907"/>
            <a:ext cx="8111124" cy="1412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9"/>
              </a:lnSpc>
            </a:pPr>
            <a:r>
              <a:rPr lang="en-US" sz="2999" spc="179" b="true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DATA PIPELINE</a:t>
            </a:r>
          </a:p>
          <a:p>
            <a:pPr algn="l">
              <a:lnSpc>
                <a:spcPts val="3645"/>
              </a:lnSpc>
            </a:pPr>
            <a:r>
              <a:rPr lang="en-US" sz="2700" spc="162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Full 100k UAE sample auto</a:t>
            </a:r>
            <a:r>
              <a:rPr lang="en-US" sz="2700" spc="162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mated ingestion and stratified splitting.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233500" y="2349526"/>
            <a:ext cx="8359721" cy="2294531"/>
            <a:chOff x="0" y="0"/>
            <a:chExt cx="8355939" cy="229349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355939" cy="2293493"/>
            </a:xfrm>
            <a:custGeom>
              <a:avLst/>
              <a:gdLst/>
              <a:ahLst/>
              <a:cxnLst/>
              <a:rect r="r" b="b" t="t" l="l"/>
              <a:pathLst>
                <a:path h="2293493" w="8355939">
                  <a:moveTo>
                    <a:pt x="0" y="0"/>
                  </a:moveTo>
                  <a:lnTo>
                    <a:pt x="8355939" y="0"/>
                  </a:lnTo>
                  <a:lnTo>
                    <a:pt x="8355939" y="2293493"/>
                  </a:lnTo>
                  <a:lnTo>
                    <a:pt x="0" y="2293493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8355939" cy="23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63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40893" y="4772313"/>
            <a:ext cx="8359721" cy="2294531"/>
            <a:chOff x="0" y="0"/>
            <a:chExt cx="8355939" cy="229349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355939" cy="2293493"/>
            </a:xfrm>
            <a:custGeom>
              <a:avLst/>
              <a:gdLst/>
              <a:ahLst/>
              <a:cxnLst/>
              <a:rect r="r" b="b" t="t" l="l"/>
              <a:pathLst>
                <a:path h="2293493" w="8355939">
                  <a:moveTo>
                    <a:pt x="0" y="0"/>
                  </a:moveTo>
                  <a:lnTo>
                    <a:pt x="8355939" y="0"/>
                  </a:lnTo>
                  <a:lnTo>
                    <a:pt x="8355939" y="2293493"/>
                  </a:lnTo>
                  <a:lnTo>
                    <a:pt x="0" y="2293493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8355939" cy="23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63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227033" y="4772313"/>
            <a:ext cx="8359721" cy="2294531"/>
            <a:chOff x="0" y="0"/>
            <a:chExt cx="8355939" cy="229349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355939" cy="2293493"/>
            </a:xfrm>
            <a:custGeom>
              <a:avLst/>
              <a:gdLst/>
              <a:ahLst/>
              <a:cxnLst/>
              <a:rect r="r" b="b" t="t" l="l"/>
              <a:pathLst>
                <a:path h="2293493" w="8355939">
                  <a:moveTo>
                    <a:pt x="0" y="0"/>
                  </a:moveTo>
                  <a:lnTo>
                    <a:pt x="8355939" y="0"/>
                  </a:lnTo>
                  <a:lnTo>
                    <a:pt x="8355939" y="2293493"/>
                  </a:lnTo>
                  <a:lnTo>
                    <a:pt x="0" y="2293493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8355939" cy="23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63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9340378" y="2584907"/>
            <a:ext cx="8313090" cy="1869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9"/>
              </a:lnSpc>
            </a:pPr>
            <a:r>
              <a:rPr lang="en-US" sz="2999" spc="179" b="true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ENGINEERING</a:t>
            </a:r>
          </a:p>
          <a:p>
            <a:pPr algn="l">
              <a:lnSpc>
                <a:spcPts val="3645"/>
              </a:lnSpc>
            </a:pPr>
            <a:r>
              <a:rPr lang="en-US" sz="2700" spc="162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13 b</a:t>
            </a:r>
            <a:r>
              <a:rPr lang="en-US" sz="2700" spc="162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ehavioral and inte</a:t>
            </a:r>
            <a:r>
              <a:rPr lang="en-US" sz="2700" spc="162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raction features added to capture UAE market intent.</a:t>
            </a:r>
          </a:p>
          <a:p>
            <a:pPr algn="l">
              <a:lnSpc>
                <a:spcPts val="3645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665191" y="4994028"/>
            <a:ext cx="8179663" cy="1869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9"/>
              </a:lnSpc>
            </a:pPr>
            <a:r>
              <a:rPr lang="en-US" sz="2999" spc="179" b="true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PERFORMANCE</a:t>
            </a:r>
          </a:p>
          <a:p>
            <a:pPr algn="l">
              <a:lnSpc>
                <a:spcPts val="3645"/>
              </a:lnSpc>
            </a:pPr>
            <a:r>
              <a:rPr lang="en-US" sz="2700" spc="162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0.7090 Test AUC achieved</a:t>
            </a:r>
            <a:r>
              <a:rPr lang="en-US" sz="2700" spc="162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 via tuned class-balanced Logistic Regression.</a:t>
            </a:r>
          </a:p>
          <a:p>
            <a:pPr algn="l">
              <a:lnSpc>
                <a:spcPts val="3645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9407091" y="4994028"/>
            <a:ext cx="8179663" cy="1869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9"/>
              </a:lnSpc>
            </a:pPr>
            <a:r>
              <a:rPr lang="en-US" sz="2999" spc="179" b="true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PRODUCTION</a:t>
            </a:r>
          </a:p>
          <a:p>
            <a:pPr algn="l">
              <a:lnSpc>
                <a:spcPts val="3645"/>
              </a:lnSpc>
            </a:pPr>
            <a:r>
              <a:rPr lang="en-US" sz="2700" spc="162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Model seri</a:t>
            </a:r>
            <a:r>
              <a:rPr lang="en-US" sz="2700" spc="162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alized via Joblib (fraud_model.pkl) for FastAPI integration.</a:t>
            </a:r>
          </a:p>
          <a:p>
            <a:pPr algn="l" marL="0" indent="0" lvl="0">
              <a:lnSpc>
                <a:spcPts val="3645"/>
              </a:lnSpc>
              <a:spcBef>
                <a:spcPct val="0"/>
              </a:spcBef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3261986" y="7993401"/>
            <a:ext cx="11746588" cy="1417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Rea</a:t>
            </a:r>
            <a:r>
              <a:rPr lang="en-US" b="true" sz="27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dy for Real-Time Deployment</a:t>
            </a:r>
          </a:p>
          <a:p>
            <a:pPr algn="ctr">
              <a:lnSpc>
                <a:spcPts val="3779"/>
              </a:lnSpc>
            </a:pPr>
            <a:r>
              <a:rPr lang="en-US" b="true" sz="27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Developed with: Python • Scikit-learn • XGBoost • Optuna • PostgreSQL</a:t>
            </a:r>
          </a:p>
          <a:p>
            <a:pPr algn="ctr">
              <a:lnSpc>
                <a:spcPts val="3779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430063" y="1936909"/>
            <a:ext cx="11221859" cy="11221859"/>
          </a:xfrm>
          <a:custGeom>
            <a:avLst/>
            <a:gdLst/>
            <a:ahLst/>
            <a:cxnLst/>
            <a:rect r="r" b="b" t="t" l="l"/>
            <a:pathLst>
              <a:path h="11221859" w="11221859">
                <a:moveTo>
                  <a:pt x="0" y="0"/>
                </a:moveTo>
                <a:lnTo>
                  <a:pt x="11221858" y="0"/>
                </a:lnTo>
                <a:lnTo>
                  <a:pt x="11221858" y="11221858"/>
                </a:lnTo>
                <a:lnTo>
                  <a:pt x="0" y="112218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96258" y="-450527"/>
            <a:ext cx="19680517" cy="1704491"/>
            <a:chOff x="0" y="0"/>
            <a:chExt cx="5183346" cy="44891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83346" cy="448919"/>
            </a:xfrm>
            <a:custGeom>
              <a:avLst/>
              <a:gdLst/>
              <a:ahLst/>
              <a:cxnLst/>
              <a:rect r="r" b="b" t="t" l="l"/>
              <a:pathLst>
                <a:path h="448919" w="5183346">
                  <a:moveTo>
                    <a:pt x="0" y="0"/>
                  </a:moveTo>
                  <a:lnTo>
                    <a:pt x="5183346" y="0"/>
                  </a:lnTo>
                  <a:lnTo>
                    <a:pt x="5183346" y="448919"/>
                  </a:lnTo>
                  <a:lnTo>
                    <a:pt x="0" y="448919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83346" cy="5060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782531" y="4668444"/>
            <a:ext cx="10598510" cy="2084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418"/>
              </a:lnSpc>
            </a:pPr>
            <a:r>
              <a:rPr lang="en-US" b="true" sz="16402" spc="-803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DAHJKOu-_TY</dc:identifier>
  <dcterms:modified xsi:type="dcterms:W3CDTF">2011-08-01T06:04:30Z</dcterms:modified>
  <cp:revision>1</cp:revision>
  <dc:title>UAE Fraud Detection</dc:title>
</cp:coreProperties>
</file>